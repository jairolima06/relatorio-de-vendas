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907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4B69A-2C6A-CDC8-5C0C-F44FADCA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7E21D-F1A9-D971-50DD-A2DAD938D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BB385-2835-3713-BF4C-B054FB446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ED2AC-48B5-F48A-2D3F-C426AB671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92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MODEHAUS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R A S I 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38404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Jairo Lima - 2025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" y="4526280"/>
            <a:ext cx="5760720" cy="6172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0040" y="4526280"/>
            <a:ext cx="54864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</a:rPr>
              <a:t>Diretoria Comercial  ·  Reunião Executiva  ·  Fevereiro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10058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"Estilo que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transforma."</a:t>
            </a:r>
            <a:endParaRPr lang="en-US" sz="2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903720" y="2286000"/>
            <a:ext cx="1188720" cy="1188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8932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0"/>
                </a:solidFill>
              </a:rPr>
              <a:t>Fundada em 2015  ·  Vestuário Premium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8932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C97A"/>
                </a:solidFill>
              </a:rPr>
              <a:t>45 Lojas  ·  12 Estados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9A84C"/>
                </a:solidFill>
              </a:rPr>
              <a:t>MODEHAUS BRASIL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Quem Somos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Nossa História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Modehaus Brasil nasceu em 2015 com uma missão clara: democratizar a moda premium no Brasil. Fundada em São Paulo, a rede expandiu rapidamente para os principais shopping centers do país, sempre mantendo o compromisso com qualidade, estilo e atendimento diferenciado.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operamos 45 lojas em 12 estados, com um portfólio de 120 produtos nas categorias masculino e feminino — de ternos executivos a acessórios exclusivos.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Nossos Pilares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60020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916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92040" y="22219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Moda Premium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10328" y="2514600"/>
            <a:ext cx="1700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070"/>
                </a:solidFill>
              </a:rPr>
              <a:t>Curadoria exclusiva de moda masculina e feminina.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60020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858000" y="160020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916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03720" y="22219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45 Lojas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922008" y="2514600"/>
            <a:ext cx="1700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070"/>
                </a:solidFill>
              </a:rPr>
              <a:t>Presença em 12 estados nos melhores shoppings.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846320" y="320040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4846320" y="320040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2918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92040" y="38221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Foco no Cliente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10328" y="4114800"/>
            <a:ext cx="1700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070"/>
                </a:solidFill>
              </a:rPr>
              <a:t>Experiência de compra consultiva e personalizada.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858000" y="320040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6858000" y="320040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329184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03720" y="38221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Parceiros Locais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922008" y="4114800"/>
            <a:ext cx="1700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070"/>
                </a:solidFill>
              </a:rPr>
              <a:t>Fornecedores nacionais comprometidos com qualidade.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9A84C"/>
                </a:solidFill>
              </a:rPr>
              <a:t>MODEHAUS BRASIL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Destaques 2024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06040" cy="2011680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88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691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R$ 42 Mi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23042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Faturamento Total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633472"/>
            <a:ext cx="187452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31520" y="2633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▲  +18% vs 2023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0" y="1051560"/>
            <a:ext cx="2606040" cy="2011680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200400" y="105156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1887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1691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</a:rPr>
              <a:t>R$ 191,49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3291840" y="23042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Ticket Médio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566160" y="2633472"/>
            <a:ext cx="187452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3566160" y="2633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▲  +9% vs 2023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035040" y="1051560"/>
            <a:ext cx="2606040" cy="2011680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6035040" y="105156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188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26480" y="1691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</a:rPr>
              <a:t>120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6126480" y="23042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Produtos Ativos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0" y="2633472"/>
            <a:ext cx="187452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6400800" y="2633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▲  +12 novos SKUs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164176" y="3177540"/>
            <a:ext cx="4206240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8" name="Shape 23"/>
          <p:cNvSpPr/>
          <p:nvPr/>
        </p:nvSpPr>
        <p:spPr>
          <a:xfrm>
            <a:off x="164176" y="317754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056" y="3287268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1416" y="32415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Filial do Ano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41416" y="363474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DAD0"/>
                </a:solidFill>
              </a:rPr>
              <a:t>Iguatemi Campinas liderou o ranking com R$ 14,8 Mi de faturamento, representando 35% acima da média da rede.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644736" y="3177540"/>
            <a:ext cx="4206240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27"/>
          <p:cNvSpPr/>
          <p:nvPr/>
        </p:nvSpPr>
        <p:spPr>
          <a:xfrm>
            <a:off x="4644736" y="317754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7616" y="3287268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421976" y="32415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Produto Estrela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5421976" y="363474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DAD0"/>
                </a:solidFill>
              </a:rPr>
              <a:t>A linha de Ternos consolidou-se como líder de receita com R$ 9,2 Mi, respondendo por 22% do faturamento total.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9A84C"/>
                </a:solidFill>
              </a:rPr>
              <a:t>MODEHAUS BRASIL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</a:rPr>
              <a:t>Faturamento por Categoria de Produto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06440" y="868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Análise Comercial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06440" y="1234440"/>
            <a:ext cx="28346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806440" y="1417320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806440" y="1417320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943600" y="147218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Ternos &amp; Sapatos — 41%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174650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0"/>
                </a:solidFill>
              </a:rPr>
              <a:t>Líderes absolutos. Combinação executiva impulsiona vendas cruzadas.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06440" y="2286000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806440" y="2286000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943600" y="23408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Camisas &amp; Calças — 28%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26151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0"/>
                </a:solidFill>
              </a:rPr>
              <a:t>Base sólida do portfólio casual-chic, com crescimento estável.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06440" y="3154680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806440" y="3154680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943600" y="320954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Blazers — 10%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0" y="348386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0"/>
                </a:solidFill>
              </a:rPr>
              <a:t>Alta margem. Oportunidade de expansão de mix e campanhas focadas.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806440" y="4023360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806440" y="4023360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943600" y="40782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Acessórios — 9%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0" y="435254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0"/>
                </a:solidFill>
              </a:rPr>
              <a:t>Menor volume, mas alto potencial como complemento de look.</a:t>
            </a:r>
            <a:endParaRPr lang="en-US" sz="85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86129EE-D9C1-4013-03E7-AEF6F7BC46FD}"/>
              </a:ext>
            </a:extLst>
          </p:cNvPr>
          <p:cNvSpPr/>
          <p:nvPr/>
        </p:nvSpPr>
        <p:spPr>
          <a:xfrm>
            <a:off x="628304" y="901377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Total de </a:t>
            </a:r>
            <a:r>
              <a:rPr lang="en-US" sz="1400" b="1" dirty="0" err="1">
                <a:solidFill>
                  <a:srgbClr val="111111"/>
                </a:solidFill>
              </a:rPr>
              <a:t>Vendas</a:t>
            </a:r>
            <a:r>
              <a:rPr lang="en-US" sz="1400" b="1" dirty="0">
                <a:solidFill>
                  <a:srgbClr val="111111"/>
                </a:solidFill>
              </a:rPr>
              <a:t> </a:t>
            </a:r>
            <a:r>
              <a:rPr lang="en-US" sz="1400" b="1" dirty="0" err="1">
                <a:solidFill>
                  <a:srgbClr val="111111"/>
                </a:solidFill>
              </a:rPr>
              <a:t>por</a:t>
            </a:r>
            <a:r>
              <a:rPr lang="en-US" sz="1400" b="1" dirty="0">
                <a:solidFill>
                  <a:srgbClr val="111111"/>
                </a:solidFill>
              </a:rPr>
              <a:t> </a:t>
            </a:r>
            <a:r>
              <a:rPr lang="en-US" sz="1400" b="1" dirty="0" err="1">
                <a:solidFill>
                  <a:srgbClr val="111111"/>
                </a:solidFill>
              </a:rPr>
              <a:t>Produto</a:t>
            </a:r>
            <a:endParaRPr lang="en-US" sz="140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7190DA3F-7E1A-F326-7521-2F039A2D5487}"/>
              </a:ext>
            </a:extLst>
          </p:cNvPr>
          <p:cNvSpPr/>
          <p:nvPr/>
        </p:nvSpPr>
        <p:spPr>
          <a:xfrm>
            <a:off x="730273" y="1216013"/>
            <a:ext cx="4132672" cy="511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D3CE77EC-29A3-A088-409D-04F8499DE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74" y="1417320"/>
            <a:ext cx="4132672" cy="31255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9DD89-263D-8C31-241E-5345FC66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097B40-4FEA-0836-7B0E-BE90F445E5F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D26ED99-FF2E-45CD-A283-E7DED3042F7E}"/>
              </a:ext>
            </a:extLst>
          </p:cNvPr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3BE8683-2475-F7A2-A4F9-EB8B0F916824}"/>
              </a:ext>
            </a:extLst>
          </p:cNvPr>
          <p:cNvSpPr/>
          <p:nvPr/>
        </p:nvSpPr>
        <p:spPr>
          <a:xfrm>
            <a:off x="365760" y="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9A84C"/>
                </a:solidFill>
              </a:rPr>
              <a:t>MODEHAUS BRASIL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06BED1-D4AB-F64B-BA28-BC9CB0F1D025}"/>
              </a:ext>
            </a:extLst>
          </p:cNvPr>
          <p:cNvSpPr/>
          <p:nvPr/>
        </p:nvSpPr>
        <p:spPr>
          <a:xfrm>
            <a:off x="1828800" y="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5A1FC60-3F8C-DFAE-06A9-5CB5A0987FC3}"/>
              </a:ext>
            </a:extLst>
          </p:cNvPr>
          <p:cNvSpPr/>
          <p:nvPr/>
        </p:nvSpPr>
        <p:spPr>
          <a:xfrm>
            <a:off x="5623560" y="179079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Iguatemi</a:t>
            </a:r>
            <a:r>
              <a:rPr lang="en-US" sz="2000" b="1" dirty="0">
                <a:solidFill>
                  <a:srgbClr val="FFFFFF"/>
                </a:solidFill>
              </a:rPr>
              <a:t> Campinas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4BBA956-590F-2F4F-FB8E-1014EB057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736" y="2174731"/>
            <a:ext cx="4391805" cy="25812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9" name="Shape 4">
            <a:extLst>
              <a:ext uri="{FF2B5EF4-FFF2-40B4-BE49-F238E27FC236}">
                <a16:creationId xmlns:a16="http://schemas.microsoft.com/office/drawing/2014/main" id="{6001568F-A7D8-1503-C8DD-71C261C8CF9D}"/>
              </a:ext>
            </a:extLst>
          </p:cNvPr>
          <p:cNvSpPr/>
          <p:nvPr/>
        </p:nvSpPr>
        <p:spPr>
          <a:xfrm>
            <a:off x="246696" y="982980"/>
            <a:ext cx="4139929" cy="1053638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6DE21CEE-0A33-257A-3D21-F27021832EE7}"/>
              </a:ext>
            </a:extLst>
          </p:cNvPr>
          <p:cNvSpPr/>
          <p:nvPr/>
        </p:nvSpPr>
        <p:spPr>
          <a:xfrm>
            <a:off x="246697" y="989214"/>
            <a:ext cx="4139928" cy="64837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6741F0B6-86BB-191F-5FEA-BB5EECA4A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52" y="1315075"/>
            <a:ext cx="457200" cy="457200"/>
          </a:xfrm>
          <a:prstGeom prst="rect">
            <a:avLst/>
          </a:prstGeom>
        </p:spPr>
      </p:pic>
      <p:sp>
        <p:nvSpPr>
          <p:cNvPr id="32" name="Text 6">
            <a:extLst>
              <a:ext uri="{FF2B5EF4-FFF2-40B4-BE49-F238E27FC236}">
                <a16:creationId xmlns:a16="http://schemas.microsoft.com/office/drawing/2014/main" id="{94EF45D4-AE9A-7F7C-D7D4-E34D87616071}"/>
              </a:ext>
            </a:extLst>
          </p:cNvPr>
          <p:cNvSpPr/>
          <p:nvPr/>
        </p:nvSpPr>
        <p:spPr>
          <a:xfrm>
            <a:off x="813746" y="12440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R$ 1,76 Mi</a:t>
            </a:r>
            <a:endParaRPr lang="en-US" sz="22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AC3FE4B9-3C94-7C0B-BBE4-0BCF3D52C4D5}"/>
              </a:ext>
            </a:extLst>
          </p:cNvPr>
          <p:cNvSpPr/>
          <p:nvPr/>
        </p:nvSpPr>
        <p:spPr>
          <a:xfrm>
            <a:off x="848599" y="1754109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Faturamento Total</a:t>
            </a:r>
            <a:endParaRPr lang="en-US" sz="10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4C8C1F28-5AE0-5F01-8361-6F0BD9A01A26}"/>
              </a:ext>
            </a:extLst>
          </p:cNvPr>
          <p:cNvSpPr/>
          <p:nvPr/>
        </p:nvSpPr>
        <p:spPr>
          <a:xfrm>
            <a:off x="731520" y="2633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4EDD8288-125C-7244-7D54-C908640C63DD}"/>
              </a:ext>
            </a:extLst>
          </p:cNvPr>
          <p:cNvSpPr/>
          <p:nvPr/>
        </p:nvSpPr>
        <p:spPr>
          <a:xfrm>
            <a:off x="4644737" y="982980"/>
            <a:ext cx="4391804" cy="1053638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F82FE33E-3763-96F4-BCAE-8892F837E0CB}"/>
              </a:ext>
            </a:extLst>
          </p:cNvPr>
          <p:cNvSpPr/>
          <p:nvPr/>
        </p:nvSpPr>
        <p:spPr>
          <a:xfrm flipV="1">
            <a:off x="4644737" y="985055"/>
            <a:ext cx="4391804" cy="68995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5" name="Image 2" descr="preencoded.png">
            <a:extLst>
              <a:ext uri="{FF2B5EF4-FFF2-40B4-BE49-F238E27FC236}">
                <a16:creationId xmlns:a16="http://schemas.microsoft.com/office/drawing/2014/main" id="{14B8D8DA-E553-DF1A-6A33-F159AEC5A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223" y="1315075"/>
            <a:ext cx="457200" cy="457200"/>
          </a:xfrm>
          <a:prstGeom prst="rect">
            <a:avLst/>
          </a:prstGeom>
        </p:spPr>
      </p:pic>
      <p:sp>
        <p:nvSpPr>
          <p:cNvPr id="46" name="Text 18">
            <a:extLst>
              <a:ext uri="{FF2B5EF4-FFF2-40B4-BE49-F238E27FC236}">
                <a16:creationId xmlns:a16="http://schemas.microsoft.com/office/drawing/2014/main" id="{A2DF39BE-27F8-4319-D477-AFD818AAB1C5}"/>
              </a:ext>
            </a:extLst>
          </p:cNvPr>
          <p:cNvSpPr/>
          <p:nvPr/>
        </p:nvSpPr>
        <p:spPr>
          <a:xfrm>
            <a:off x="5852160" y="1182901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116 </a:t>
            </a:r>
            <a:r>
              <a:rPr lang="en-US" sz="2200" b="1" dirty="0" err="1">
                <a:solidFill>
                  <a:srgbClr val="C9A84C"/>
                </a:solidFill>
              </a:rPr>
              <a:t>Calças</a:t>
            </a:r>
            <a:endParaRPr lang="en-US" sz="22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3CC6F887-C975-C095-DA42-A54D18C94E67}"/>
              </a:ext>
            </a:extLst>
          </p:cNvPr>
          <p:cNvSpPr/>
          <p:nvPr/>
        </p:nvSpPr>
        <p:spPr>
          <a:xfrm>
            <a:off x="5782410" y="169259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</a:rPr>
              <a:t>Produto</a:t>
            </a:r>
            <a:r>
              <a:rPr lang="en-US" sz="1000" b="1" dirty="0">
                <a:solidFill>
                  <a:srgbClr val="FFFFFF"/>
                </a:solidFill>
              </a:rPr>
              <a:t> Mais </a:t>
            </a:r>
            <a:r>
              <a:rPr lang="en-US" sz="1000" b="1" dirty="0" err="1">
                <a:solidFill>
                  <a:srgbClr val="FFFFFF"/>
                </a:solidFill>
              </a:rPr>
              <a:t>Vendido</a:t>
            </a:r>
            <a:endParaRPr lang="en-US" sz="1000" dirty="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F5574DFB-50CB-8E91-34B6-C463D1AA93B2}"/>
              </a:ext>
            </a:extLst>
          </p:cNvPr>
          <p:cNvSpPr/>
          <p:nvPr/>
        </p:nvSpPr>
        <p:spPr>
          <a:xfrm>
            <a:off x="6400800" y="2633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0" name="Image 0" descr="preencoded.png">
            <a:extLst>
              <a:ext uri="{FF2B5EF4-FFF2-40B4-BE49-F238E27FC236}">
                <a16:creationId xmlns:a16="http://schemas.microsoft.com/office/drawing/2014/main" id="{0ADBEDF8-B1A2-50C5-1972-8D06FA5FD4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33943"/>
            <a:ext cx="256032" cy="256032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3591F2E3-1903-B494-000E-0C2E4751FD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697" y="2140349"/>
            <a:ext cx="4143374" cy="25812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315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9A84C"/>
                </a:solidFill>
              </a:rPr>
              <a:t>MODEHAUS BRASIL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</a:rPr>
              <a:t>Ranking de Filiais — Top 6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384181" y="8458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 err="1">
                <a:solidFill>
                  <a:srgbClr val="C9A84C"/>
                </a:solidFill>
              </a:rPr>
              <a:t>Pódio</a:t>
            </a:r>
            <a:r>
              <a:rPr lang="en-US" sz="1300" b="1" dirty="0">
                <a:solidFill>
                  <a:srgbClr val="E8C97A"/>
                </a:solidFill>
              </a:rPr>
              <a:t> </a:t>
            </a:r>
            <a:r>
              <a:rPr lang="en-US" sz="1300" b="1" kern="0" spc="600" dirty="0">
                <a:solidFill>
                  <a:srgbClr val="C9A84C"/>
                </a:solidFill>
              </a:rPr>
              <a:t>Nacional</a:t>
            </a:r>
          </a:p>
        </p:txBody>
      </p:sp>
      <p:sp>
        <p:nvSpPr>
          <p:cNvPr id="8" name="Shape 5"/>
          <p:cNvSpPr/>
          <p:nvPr/>
        </p:nvSpPr>
        <p:spPr>
          <a:xfrm>
            <a:off x="978408" y="1316736"/>
            <a:ext cx="3017520" cy="1078992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978408" y="1316736"/>
            <a:ext cx="502920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978408" y="1316736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4538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65376" y="14264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Iguatemi Campinas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572768" y="17739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</a:rPr>
              <a:t>R$ 1,76 Mi   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572768" y="206654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</a:rPr>
              <a:t>★  Melhor filial do ano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978408" y="2578608"/>
            <a:ext cx="3017520" cy="1078992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78408" y="2578608"/>
            <a:ext cx="502920" cy="1078992"/>
          </a:xfrm>
          <a:prstGeom prst="rect">
            <a:avLst/>
          </a:prstGeom>
          <a:solidFill>
            <a:srgbClr val="5A5248"/>
          </a:solidFill>
          <a:ln w="12700">
            <a:solidFill>
              <a:srgbClr val="5A52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978408" y="257860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2715768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65376" y="2688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Shopping Vila Velha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572768" y="30358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</a:rPr>
              <a:t>R$ 1,73 Mi   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78408" y="3785616"/>
            <a:ext cx="3017520" cy="1078992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978408" y="3785616"/>
            <a:ext cx="502920" cy="107899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978408" y="3785616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392277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65376" y="3895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Bourbon Shopping SP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572768" y="42428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</a:rPr>
              <a:t>R$  1,72 Mi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069848" y="45994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AAC50DA8-EBD6-053E-2644-35DEB3156F54}"/>
              </a:ext>
            </a:extLst>
          </p:cNvPr>
          <p:cNvSpPr/>
          <p:nvPr/>
        </p:nvSpPr>
        <p:spPr>
          <a:xfrm>
            <a:off x="5160888" y="1307592"/>
            <a:ext cx="3017520" cy="1078992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0737F73A-FFA1-324D-8026-164099B16C88}"/>
              </a:ext>
            </a:extLst>
          </p:cNvPr>
          <p:cNvSpPr/>
          <p:nvPr/>
        </p:nvSpPr>
        <p:spPr>
          <a:xfrm>
            <a:off x="5160888" y="1307592"/>
            <a:ext cx="502920" cy="1078992"/>
          </a:xfrm>
          <a:prstGeom prst="rect">
            <a:avLst/>
          </a:prstGeom>
          <a:solidFill>
            <a:srgbClr val="5A5248"/>
          </a:solidFill>
          <a:ln w="12700">
            <a:solidFill>
              <a:srgbClr val="5A52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27F6D8D5-56D2-4815-DB05-32639E5C8430}"/>
              </a:ext>
            </a:extLst>
          </p:cNvPr>
          <p:cNvSpPr/>
          <p:nvPr/>
        </p:nvSpPr>
        <p:spPr>
          <a:xfrm>
            <a:off x="5160888" y="130759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E69B19D3-D665-FA98-DE6C-FE6AE8443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248" y="1444752"/>
            <a:ext cx="256032" cy="256032"/>
          </a:xfrm>
          <a:prstGeom prst="rect">
            <a:avLst/>
          </a:prstGeom>
        </p:spPr>
      </p:pic>
      <p:sp>
        <p:nvSpPr>
          <p:cNvPr id="33" name="Text 14">
            <a:extLst>
              <a:ext uri="{FF2B5EF4-FFF2-40B4-BE49-F238E27FC236}">
                <a16:creationId xmlns:a16="http://schemas.microsoft.com/office/drawing/2014/main" id="{D9A729F0-2B61-A7D9-3689-FFB41198440B}"/>
              </a:ext>
            </a:extLst>
          </p:cNvPr>
          <p:cNvSpPr/>
          <p:nvPr/>
        </p:nvSpPr>
        <p:spPr>
          <a:xfrm>
            <a:off x="6047856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Rio Mar Recife</a:t>
            </a:r>
            <a:endParaRPr lang="en-US" sz="11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347F5FB-DA84-FF8D-692B-B5563230E9A9}"/>
              </a:ext>
            </a:extLst>
          </p:cNvPr>
          <p:cNvSpPr/>
          <p:nvPr/>
        </p:nvSpPr>
        <p:spPr>
          <a:xfrm>
            <a:off x="5755248" y="17647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</a:rPr>
              <a:t>R$ 1,72 Mi   </a:t>
            </a:r>
            <a:endParaRPr lang="en-US" sz="10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54F5D397-77C8-E68C-5A16-4A7D0B35B266}"/>
              </a:ext>
            </a:extLst>
          </p:cNvPr>
          <p:cNvSpPr/>
          <p:nvPr/>
        </p:nvSpPr>
        <p:spPr>
          <a:xfrm>
            <a:off x="5160888" y="2578608"/>
            <a:ext cx="3017520" cy="1078992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329319BE-CEE0-0234-A454-739E80B9DEF6}"/>
              </a:ext>
            </a:extLst>
          </p:cNvPr>
          <p:cNvSpPr/>
          <p:nvPr/>
        </p:nvSpPr>
        <p:spPr>
          <a:xfrm>
            <a:off x="5160888" y="2578608"/>
            <a:ext cx="502920" cy="1078992"/>
          </a:xfrm>
          <a:prstGeom prst="rect">
            <a:avLst/>
          </a:prstGeom>
          <a:solidFill>
            <a:srgbClr val="5A5248"/>
          </a:solidFill>
          <a:ln w="12700">
            <a:solidFill>
              <a:srgbClr val="5A52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7B94D94C-43AF-E65A-8CAD-2B271F5436E7}"/>
              </a:ext>
            </a:extLst>
          </p:cNvPr>
          <p:cNvSpPr/>
          <p:nvPr/>
        </p:nvSpPr>
        <p:spPr>
          <a:xfrm>
            <a:off x="5160888" y="257860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pic>
        <p:nvPicPr>
          <p:cNvPr id="38" name="Image 1" descr="preencoded.png">
            <a:extLst>
              <a:ext uri="{FF2B5EF4-FFF2-40B4-BE49-F238E27FC236}">
                <a16:creationId xmlns:a16="http://schemas.microsoft.com/office/drawing/2014/main" id="{71D6B290-46B9-3307-E4CC-EB64F97CC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248" y="2715768"/>
            <a:ext cx="256032" cy="256032"/>
          </a:xfrm>
          <a:prstGeom prst="rect">
            <a:avLst/>
          </a:prstGeom>
        </p:spPr>
      </p:pic>
      <p:sp>
        <p:nvSpPr>
          <p:cNvPr id="39" name="Text 14">
            <a:extLst>
              <a:ext uri="{FF2B5EF4-FFF2-40B4-BE49-F238E27FC236}">
                <a16:creationId xmlns:a16="http://schemas.microsoft.com/office/drawing/2014/main" id="{4F583FF2-A3C0-F6D0-421E-AF464B2C0CA7}"/>
              </a:ext>
            </a:extLst>
          </p:cNvPr>
          <p:cNvSpPr/>
          <p:nvPr/>
        </p:nvSpPr>
        <p:spPr>
          <a:xfrm>
            <a:off x="6047856" y="2688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Shopping SP Market</a:t>
            </a:r>
            <a:endParaRPr lang="en-US" sz="11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BA65A2A2-2677-94EC-DB7C-4F4DAB7B239A}"/>
              </a:ext>
            </a:extLst>
          </p:cNvPr>
          <p:cNvSpPr/>
          <p:nvPr/>
        </p:nvSpPr>
        <p:spPr>
          <a:xfrm>
            <a:off x="5755248" y="30358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</a:rPr>
              <a:t>R$ 1,72 Mi   </a:t>
            </a:r>
            <a:endParaRPr lang="en-US" sz="1000" dirty="0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EDD33D72-5524-7E32-7D4C-7AAF79753D12}"/>
              </a:ext>
            </a:extLst>
          </p:cNvPr>
          <p:cNvSpPr/>
          <p:nvPr/>
        </p:nvSpPr>
        <p:spPr>
          <a:xfrm>
            <a:off x="5160888" y="3767328"/>
            <a:ext cx="3017520" cy="1078992"/>
          </a:xfrm>
          <a:prstGeom prst="rect">
            <a:avLst/>
          </a:prstGeom>
          <a:solidFill>
            <a:srgbClr val="1C1C1E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D412E9D1-A32F-6393-24C2-47747FADAF62}"/>
              </a:ext>
            </a:extLst>
          </p:cNvPr>
          <p:cNvSpPr/>
          <p:nvPr/>
        </p:nvSpPr>
        <p:spPr>
          <a:xfrm>
            <a:off x="5160888" y="3767328"/>
            <a:ext cx="502920" cy="1078992"/>
          </a:xfrm>
          <a:prstGeom prst="rect">
            <a:avLst/>
          </a:prstGeom>
          <a:solidFill>
            <a:srgbClr val="5A5248"/>
          </a:solidFill>
          <a:ln w="12700">
            <a:solidFill>
              <a:srgbClr val="5A52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FA991EF4-7046-F6AE-842A-36782C05EAA6}"/>
              </a:ext>
            </a:extLst>
          </p:cNvPr>
          <p:cNvSpPr/>
          <p:nvPr/>
        </p:nvSpPr>
        <p:spPr>
          <a:xfrm>
            <a:off x="5160888" y="376732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90550598-2563-30CE-CC9D-41747EC74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248" y="3904488"/>
            <a:ext cx="256032" cy="256032"/>
          </a:xfrm>
          <a:prstGeom prst="rect">
            <a:avLst/>
          </a:prstGeom>
        </p:spPr>
      </p:pic>
      <p:sp>
        <p:nvSpPr>
          <p:cNvPr id="45" name="Text 14">
            <a:extLst>
              <a:ext uri="{FF2B5EF4-FFF2-40B4-BE49-F238E27FC236}">
                <a16:creationId xmlns:a16="http://schemas.microsoft.com/office/drawing/2014/main" id="{8D2455C3-DE52-6747-A422-B0565AF7E638}"/>
              </a:ext>
            </a:extLst>
          </p:cNvPr>
          <p:cNvSpPr/>
          <p:nvPr/>
        </p:nvSpPr>
        <p:spPr>
          <a:xfrm>
            <a:off x="6047856" y="38770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Palladium Shopping Curitiba</a:t>
            </a:r>
            <a:endParaRPr lang="en-US" sz="11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D72D2FCA-1F41-4FD4-7C33-3C0B9996D447}"/>
              </a:ext>
            </a:extLst>
          </p:cNvPr>
          <p:cNvSpPr/>
          <p:nvPr/>
        </p:nvSpPr>
        <p:spPr>
          <a:xfrm>
            <a:off x="5755248" y="42245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</a:rPr>
              <a:t>R$ 1,72 Mi  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9A84C"/>
                </a:solidFill>
              </a:rPr>
              <a:t>MODEHAUS BRASIL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</a:rPr>
              <a:t>Análise Estratégica &amp; Próximos Passos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6052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</a:rPr>
              <a:t>PONTOS FORTES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356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Faturamento de R$ 42 Mi consolida posição de mercado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Ternos e Sapatos com 41% de participação — mix defensivo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29514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Filial Iguatemi como benchmark interno de excelência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605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00600" y="9601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11111"/>
                </a:solidFill>
              </a:rPr>
              <a:t>OPORTUNIDADES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4356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Expansão da linha de Blazers (alta margem, baixo volume)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86537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Cross-sell de Acessórios em todas as lojas Top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29514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Abertura de novas unidades no Centro-Oeste e Norte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160520" cy="4114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5760" y="2971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97A"/>
                </a:solidFill>
              </a:rPr>
              <a:t>PONTOS DE ATENÇÃO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4472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Concentração de receita em poucas filiais (risco de dependência)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87705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Acessórios ainda abaixo do potencial de mix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30682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Disparidade de desempenho entre filiais exige nivelamento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60520" cy="411480"/>
          </a:xfrm>
          <a:prstGeom prst="rect">
            <a:avLst/>
          </a:prstGeom>
          <a:solidFill>
            <a:srgbClr val="5A5248"/>
          </a:solidFill>
          <a:ln w="12700">
            <a:solidFill>
              <a:srgbClr val="5A52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00600" y="2971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</a:rPr>
              <a:t>AÇÕES PARA 2025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4472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Programa de mentoria: Iguatemi replica boas práticas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87705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Meta de ticket médio R$ 210 com upselling consultivo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430682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▸  </a:t>
            </a:r>
            <a:r>
              <a:rPr lang="en-US" sz="950" dirty="0">
                <a:solidFill>
                  <a:srgbClr val="5A5248"/>
                </a:solidFill>
              </a:rPr>
              <a:t>Lançamento de 15 novos SKUs — foco em Blazers e Acessórios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583680" y="0"/>
            <a:ext cx="4572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4008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371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0" dirty="0">
                <a:solidFill>
                  <a:srgbClr val="FFFFFF"/>
                </a:solidFill>
              </a:rPr>
              <a:t>MODEHAUS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11480" y="20848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600" dirty="0">
                <a:solidFill>
                  <a:srgbClr val="C9A84C"/>
                </a:solidFill>
              </a:rPr>
              <a:t>B R A S I 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1480" y="2542032"/>
            <a:ext cx="36576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11480" y="2697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Obrigado pela presença.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1480" y="3154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070"/>
                </a:solidFill>
              </a:rPr>
              <a:t>Estamos à disposição para perguntas e discussões.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4592" y="4526280"/>
            <a:ext cx="6400800" cy="6172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20040" y="4526280"/>
            <a:ext cx="621792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248"/>
                </a:solidFill>
              </a:rPr>
              <a:t>Diretoria Comercial  ·  Reunião Executiva  ·  Fevereiro 2025  ·  Confidencial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20840" y="10972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Contato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20840" y="15087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</a:rPr>
              <a:t>comercial@modehaus.com.br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</a:rPr>
              <a:t>www.modehaus.com.br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20840" y="24231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</a:rPr>
              <a:t>+55 11 3000-4500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720840" y="28803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</a:rPr>
              <a:t>São Paulo, SP — Brasil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20840" y="34747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9A84C"/>
                </a:solidFill>
              </a:rPr>
              <a:t>"Estilo que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C9A84C"/>
                </a:solidFill>
              </a:rPr>
              <a:t>transforma."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600</Words>
  <Application>Microsoft Office PowerPoint</Application>
  <PresentationFormat>Apresentação na tela (16:9)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Modehaus Brasil · Resultados Comerciais 2024</dc:title>
  <dc:subject>PptxGenJS Presentation</dc:subject>
  <dc:creator>Modehaus Brasil — Diretoria Comercial</dc:creator>
  <cp:lastModifiedBy>Francisco Jairo Dias de Lima</cp:lastModifiedBy>
  <cp:revision>4</cp:revision>
  <dcterms:created xsi:type="dcterms:W3CDTF">2026-04-23T19:55:41Z</dcterms:created>
  <dcterms:modified xsi:type="dcterms:W3CDTF">2026-04-27T22:48:44Z</dcterms:modified>
</cp:coreProperties>
</file>